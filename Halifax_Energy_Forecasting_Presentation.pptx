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005840"/>
            <a:ext cx="73152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91440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Energy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26060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ETL Integration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Load Prediction &amp; Anomaly Detection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14400"/>
            <a:ext cx="256032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389120"/>
            <a:ext cx="4754880" cy="75438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4622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DBAS 3090 – Advanced Database Applications  |  Project Charter  |  March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47548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Sponsor: Professor George Campanis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Manager: Dylan Bray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Grid Reliability Through Predictive Analytics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ML-driven load forecasting in Nova Scotia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743200" cy="4572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0876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265176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utility load forecasts miss weather-driven demand spikes. Heating Degree Days and Cooling Degree Days create non-linear surges that simple regression cannot capture — leaving grid operators exposed during peak events.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417320"/>
            <a:ext cx="274320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417320"/>
            <a:ext cx="274320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0876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29000" y="265176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automated ETL pipeline ingesting NSP load data and Environment Canada weather feeds, training an XGBoost regression model in R that writes 24–48 hour forecasts back to SQL Server and refreshes a live Power BI dashboard.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1417320"/>
            <a:ext cx="274320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1417320"/>
            <a:ext cx="2743200" cy="4572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50876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46520" y="265176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24–48 hour load forecasts with Scatter Index monitoring — enabling proactive demand response, grid balancing decisions, and direct alignment with smart metering anomaly detection use cases.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1F3A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365760" y="4681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Metric: Scatter Index (SI%) &lt; 5% for calm periods; &lt; 10% during shoulder seasons (Apr–May, Sep–Oct)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4" name="Text 19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Energy Demand Forecasting  |  DBAS 3090 – Advanced Database Applications  |  Dylan Bray  |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Goals &amp; Business Outcomes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3840480" cy="1051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3990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Pipeline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0120" y="167335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 packages extract NSP hourly load (Wetmore/OASIS 2022–2024) and Environment Canada hourly weather (Stanfield Station 50620). Incremental loading with error logging prevents duplication.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206240" y="1325880"/>
            <a:ext cx="27432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1325880"/>
            <a:ext cx="4206240" cy="1051560"/>
          </a:xfrm>
          <a:prstGeom prst="rect">
            <a:avLst/>
          </a:prstGeom>
          <a:solidFill>
            <a:srgbClr val="1F3A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160520" y="16733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663440" y="1399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Data Ecosystem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167335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hourly refresh cycle, eliminating manual data collection. SQL Agent job chains ETL → model → Power BI refresh automatically.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2514600"/>
            <a:ext cx="3840480" cy="1051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25877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Predictive Engine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60120" y="286207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R-based XGBoost regression model trained on 3 years of load + weather history. Key features: Lag_Load_24h (most predictive), HDD/CDD flags, Temp_C, Hour, DayOfWeek, Is_Holiday.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206240" y="2514600"/>
            <a:ext cx="27432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4"/>
          <p:cNvSpPr/>
          <p:nvPr/>
        </p:nvSpPr>
        <p:spPr>
          <a:xfrm>
            <a:off x="4617720" y="2514600"/>
            <a:ext cx="4206240" cy="1051560"/>
          </a:xfrm>
          <a:prstGeom prst="rect">
            <a:avLst/>
          </a:prstGeom>
          <a:solidFill>
            <a:srgbClr val="1F3A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160520" y="286207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4663440" y="2587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Forecasting Confidence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63440" y="28620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grid operators from reactive to proactive planning. Forecast horizon of 24–48 hours supports next-day scheduling and demand response activation.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74320" y="3703320"/>
            <a:ext cx="3840480" cy="1051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93192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60120" y="3776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Decision Dashboard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960120" y="405079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visuals: Actual vs Predicted load line chart, Temperature-Load U-shape scatter, and Scatter Index health gauge with green/amber/red zones.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206240" y="3703320"/>
            <a:ext cx="27432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Shape 22"/>
          <p:cNvSpPr/>
          <p:nvPr/>
        </p:nvSpPr>
        <p:spPr>
          <a:xfrm>
            <a:off x="4617720" y="3703320"/>
            <a:ext cx="4206240" cy="1051560"/>
          </a:xfrm>
          <a:prstGeom prst="rect">
            <a:avLst/>
          </a:prstGeom>
          <a:solidFill>
            <a:srgbClr val="1F3A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4160520" y="405079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4663440" y="37764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Intelligence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663440" y="405079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get immediate visual confirmation of model health. SI gauge triggers re-tuning alerts automatically when forecast degrades above 10%.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Text 27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Energy Demand Forecasting  |  DBAS 3090 – Advanced Database Applications  |  Dylan Bray  |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&amp; Operational Beneficiaries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402336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402336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356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Scotia Power / Emera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20574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source and end beneficiary. Improved 24-hr load forecasting supports fuel procurement, hydro scheduling, and peak demand response.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325880"/>
            <a:ext cx="402336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325880"/>
            <a:ext cx="402336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4356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Technologies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46320" y="20574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metering company: this forecasting architecture directly mirrors their anomaly detection pipelines at the meter level. Portfolio alignment for potential internship opportunity.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74320" y="3154680"/>
            <a:ext cx="402336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3154680"/>
            <a:ext cx="402336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32644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Industrial Users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11480" y="38862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Large-load industrial customers benefit from demand charge optimization when grid load forecasts are accurate enough to support time-of-use management strategies.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3154680"/>
            <a:ext cx="402336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3154680"/>
            <a:ext cx="4023360" cy="4572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918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2644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Operators &amp; ISO-NE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46320" y="38862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System Operator New England oversees NS grid interconnects. Accurate provincial load forecasts support regional grid balancing and emergency reserve scheduling.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5" name="Text 19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Energy Demand Forecasting  |  DBAS 3090 – Advanced Database Applications  |  Dylan Bray  |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Why Simple Load Forecasts Fail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Weather-driven demand is non-linear and difficult to predict with traditional methods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840480" cy="3383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6304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Astronomical Schedules: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and day-of-week drive base demand — predictable, cyclical, learnable.
</a:t>
            </a:r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Degree Days (HDD):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degree below 18°C forces electric heating on. Cold snaps in Halifax create sudden non-linear demand surges.
</a:t>
            </a:r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Degree Days (CDD):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degree above 22°C drives air conditioning load. Hot humid summers create afternoon demand peaks.
</a:t>
            </a:r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U-Shape Gap: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regression assumes linear temperature-load relationships. XGBoost captures the U-shape — high load at both extremes, trough at 18–22°C.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4297680" cy="3383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vs Temperature — The U-Shape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384048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16200000">
            <a:off x="4800600" y="2971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(MW)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35040" y="44348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(°C)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 rot="-3378596">
            <a:off x="4846320" y="4133088"/>
            <a:ext cx="55388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 rot="-2963922">
            <a:off x="5153558" y="3672230"/>
            <a:ext cx="4721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 rot="-2837437">
            <a:off x="5460797" y="3313786"/>
            <a:ext cx="452967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 rot="-2388334">
            <a:off x="5768035" y="2980944"/>
            <a:ext cx="399935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 rot="-2021404">
            <a:off x="6075274" y="2724912"/>
            <a:ext cx="369255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 rot="-1357192">
            <a:off x="6382512" y="2520086"/>
            <a:ext cx="33284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 rot="-567739">
            <a:off x="6689750" y="2392070"/>
            <a:ext cx="311476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 rot="567739">
            <a:off x="6996989" y="2340864"/>
            <a:ext cx="311476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 rot="1593903">
            <a:off x="7304227" y="2392070"/>
            <a:ext cx="343503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 rot="2388334">
            <a:off x="7611466" y="2545690"/>
            <a:ext cx="399935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 rot="2963922">
            <a:off x="7918704" y="2801722"/>
            <a:ext cx="4721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 rot="3378596">
            <a:off x="8225942" y="3160166"/>
            <a:ext cx="55388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 rot="4091915">
            <a:off x="8533181" y="3621024"/>
            <a:ext cx="41363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920179" y="1828800"/>
            <a:ext cx="22860" cy="2560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874459" y="18745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18°C (HDD)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57846" y="1828800"/>
            <a:ext cx="22860" cy="2560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476134" y="18745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22°C (CDD)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46320" y="4709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⬅ Heating load              Comfort zone              Cooling load ➡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Energy Demand Forecasting  |  DBAS 3090 – Advanced Database Applications  |  Dylan Bray  |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371600"/>
            <a:ext cx="1600200" cy="31089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371600"/>
            <a:ext cx="16002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087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1488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26974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 OASIS / Wetmore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 Canada (EC Stanfield)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792224" y="23774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965960" y="1371600"/>
            <a:ext cx="1600200" cy="31089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65960" y="1371600"/>
            <a:ext cx="160020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740" y="15087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1488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(SSIS)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057400" y="26974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Extraction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Logic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575304" y="23774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749040" y="1371600"/>
            <a:ext cx="1600200" cy="31089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49040" y="1371600"/>
            <a:ext cx="1600200" cy="54864"/>
          </a:xfrm>
          <a:prstGeom prst="rect">
            <a:avLst/>
          </a:prstGeom>
          <a:solidFill>
            <a:srgbClr val="1F3A6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20" y="150876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94760" y="21488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(SQL Server)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840480" y="26974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5-table Schema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Time-Series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358384" y="23774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532120" y="1371600"/>
            <a:ext cx="1600200" cy="31089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532120" y="1371600"/>
            <a:ext cx="16002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150876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77840" y="21488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(R)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623560" y="26974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141464" y="23774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7315200" y="1371600"/>
            <a:ext cx="1600200" cy="31089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315200" y="1371600"/>
            <a:ext cx="1600200" cy="5486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0" y="1508760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60920" y="21488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(PBI)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406640" y="26974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Health Gauge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182880" y="4572000"/>
            <a:ext cx="1600200" cy="38404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Text 27"/>
          <p:cNvSpPr/>
          <p:nvPr/>
        </p:nvSpPr>
        <p:spPr>
          <a:xfrm>
            <a:off x="228600" y="45902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 IWLS API · EC hourly CSV · Wetmore NSP feed (2022–2024)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1965960" y="4572000"/>
            <a:ext cx="1600200" cy="38404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29"/>
          <p:cNvSpPr/>
          <p:nvPr/>
        </p:nvSpPr>
        <p:spPr>
          <a:xfrm>
            <a:off x="2011680" y="45902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Component · Lookup · Derived Column · OLE DB Dest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3749040" y="4572000"/>
            <a:ext cx="1600200" cy="38404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8" name="Text 31"/>
          <p:cNvSpPr/>
          <p:nvPr/>
        </p:nvSpPr>
        <p:spPr>
          <a:xfrm>
            <a:off x="3794760" y="45902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stg_NSP_Load · stg_Weather · Fact_Energy · Dim_Date · Predictions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5532120" y="4572000"/>
            <a:ext cx="1600200" cy="38404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0" name="Text 33"/>
          <p:cNvSpPr/>
          <p:nvPr/>
        </p:nvSpPr>
        <p:spPr>
          <a:xfrm>
            <a:off x="5577840" y="45902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Lag_Load_24h · HDD/CDD · Hour · DayOfWeek · Temp_C · SI%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7315200" y="4572000"/>
            <a:ext cx="1600200" cy="38404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2" name="Text 35"/>
          <p:cNvSpPr/>
          <p:nvPr/>
        </p:nvSpPr>
        <p:spPr>
          <a:xfrm>
            <a:off x="7360920" y="45902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· U-Shape Scatter · SI Gauge · Date Slicer</a:t>
            </a:r>
            <a:endParaRPr lang="en-US" sz="800" dirty="0"/>
          </a:p>
        </p:txBody>
      </p:sp>
      <p:sp>
        <p:nvSpPr>
          <p:cNvPr id="43" name="Shape 36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4" name="Text 37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Energy Demand Forecasting  |  DBAS 3090 – Advanced Database Applications  |  Dylan Bray  |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Strategy: Ingestion &amp; Automation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4114800" cy="2743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411480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264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Nova Scotia Power (NSP)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1920240"/>
            <a:ext cx="1005840" cy="32004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1938528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508760" y="1938528"/>
            <a:ext cx="2834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 OASIS portal / Wetmore.ca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2331720"/>
            <a:ext cx="1005840" cy="32004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" y="2350008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508760" y="2350008"/>
            <a:ext cx="2834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 historical (3 full years)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743200"/>
            <a:ext cx="1005840" cy="32004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2761488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508760" y="2761488"/>
            <a:ext cx="2834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load (MW)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11480" y="3154680"/>
            <a:ext cx="1005840" cy="32004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" y="3172968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508760" y="3172968"/>
            <a:ext cx="2834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Wetmore JSON feed for live inference layer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3566160"/>
            <a:ext cx="1005840" cy="32004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3584448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508760" y="3584448"/>
            <a:ext cx="2834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 cyber incident Jan 2025 affects OASIS direct; Wetmore confirmed working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09160" y="1325880"/>
            <a:ext cx="4114800" cy="2743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1325880"/>
            <a:ext cx="411480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94960" y="14264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Environment Canada Weather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846320" y="1920240"/>
            <a:ext cx="1005840" cy="32004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Text 24"/>
          <p:cNvSpPr/>
          <p:nvPr/>
        </p:nvSpPr>
        <p:spPr>
          <a:xfrm>
            <a:off x="4846320" y="1938528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943600" y="1938528"/>
            <a:ext cx="2834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Datamart + bulk CSV download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846320" y="2331720"/>
            <a:ext cx="1005840" cy="32004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1" name="Text 27"/>
          <p:cNvSpPr/>
          <p:nvPr/>
        </p:nvSpPr>
        <p:spPr>
          <a:xfrm>
            <a:off x="4846320" y="2350008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5943600" y="2350008"/>
            <a:ext cx="2834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Stanfield Intl (Station 50620)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846320" y="2743200"/>
            <a:ext cx="1005840" cy="32004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Text 30"/>
          <p:cNvSpPr/>
          <p:nvPr/>
        </p:nvSpPr>
        <p:spPr>
          <a:xfrm>
            <a:off x="4846320" y="2761488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5943600" y="2761488"/>
            <a:ext cx="2834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Temp_C, WindSpeed, Precip, Pressure_hPa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4846320" y="3154680"/>
            <a:ext cx="1005840" cy="32004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7" name="Text 33"/>
          <p:cNvSpPr/>
          <p:nvPr/>
        </p:nvSpPr>
        <p:spPr>
          <a:xfrm>
            <a:off x="4846320" y="3172968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5943600" y="3172968"/>
            <a:ext cx="2834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observations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4846320" y="3566160"/>
            <a:ext cx="1005840" cy="32004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0" name="Text 36"/>
          <p:cNvSpPr/>
          <p:nvPr/>
        </p:nvSpPr>
        <p:spPr>
          <a:xfrm>
            <a:off x="4846320" y="3584448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Forecast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5943600" y="3584448"/>
            <a:ext cx="2834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Datamart 48-hr forecast for inference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274320" y="4160520"/>
            <a:ext cx="8595360" cy="640080"/>
          </a:xfrm>
          <a:prstGeom prst="rect">
            <a:avLst/>
          </a:prstGeom>
          <a:solidFill>
            <a:srgbClr val="1F3A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274320" y="416052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4" name="Text 40"/>
          <p:cNvSpPr/>
          <p:nvPr/>
        </p:nvSpPr>
        <p:spPr>
          <a:xfrm>
            <a:off x="457200" y="4178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Pipeline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457200" y="4453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Agent Job runs daily at 06:00 AT: Step 1 → SSIS Package (truncate staging → load NSP + weather) · Step 2 → R Script (retrain XGBoost + write predictions) · Step 3 → Power BI dataset refresh via REST API. Incremental loading prevents duplication. Error handler logs failures to SQL Logs table.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7" name="Text 43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Energy Demand Forecasting  |  DBAS 3090 – Advanced Database Applications  |  Dylan Bray  |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Approach: Predicting Load Demand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3931920" cy="3383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393192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89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Baseline ARIMA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time-series ARIMA model using hourly load history only. Establishes a benchmark RMSE and SI% for comparison — the 'naive' control group.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RMSE &lt; 80 MW  |  SI &lt; 15%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phase confirms data pipeline integrity before introducing weather features.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/ Baseline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069080" cy="3383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25880"/>
            <a:ext cx="40690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8988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XGBoost Regression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794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Load_MW (continuous regression)
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Lag_Load_24h (strongest), Lag_Load_168h, Temp_C, HDD_Flag, CDD_Flag, Hour, DayOfWeek, Month, Is_Holiday, WindSpeed_kmh
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xgb.train() with max_depth=3, eta=0.05, nrounds=10000, early_stopping_rounds=50. Chronological 80/20 split — no random shuffle of time-series.
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+ Scatter Index (SI% = RMSE / mean load × 100)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468172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Reduce RMSE vs. ARIMA baseline during peak HDD/CDD events — the conditions that matter most for grid stability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Energy Demand Forecasting  |  DBAS 3090 – Advanced Database Applications  |  Dylan Bray  | 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Forecast: Actual vs Predicted Load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Accuracy Chart during a cold snap event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8595360" cy="32461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7863840" cy="1097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194560"/>
            <a:ext cx="7863840" cy="1097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880360"/>
            <a:ext cx="7863840" cy="1097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566160"/>
            <a:ext cx="7863840" cy="1097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4251960"/>
            <a:ext cx="7863840" cy="1097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 rot="-1153840">
            <a:off x="1033272" y="3017520"/>
            <a:ext cx="583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 rot="-879693">
            <a:off x="1583741" y="2825496"/>
            <a:ext cx="65028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 rot="-593635">
            <a:off x="2212848" y="2660904"/>
            <a:ext cx="638605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 rot="-998810">
            <a:off x="2841955" y="2551176"/>
            <a:ext cx="574549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 rot="-593635">
            <a:off x="3392424" y="2386584"/>
            <a:ext cx="638605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 rot="-998810">
            <a:off x="4021531" y="2276856"/>
            <a:ext cx="574549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 rot="-935569">
            <a:off x="4572000" y="2112264"/>
            <a:ext cx="408216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Shape 17"/>
          <p:cNvSpPr/>
          <p:nvPr/>
        </p:nvSpPr>
        <p:spPr>
          <a:xfrm rot="-709289">
            <a:off x="4965192" y="2002536"/>
            <a:ext cx="40171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Shape 18"/>
          <p:cNvSpPr/>
          <p:nvPr/>
        </p:nvSpPr>
        <p:spPr>
          <a:xfrm rot="-709289">
            <a:off x="5358384" y="1920240"/>
            <a:ext cx="40171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 rot="-785514">
            <a:off x="5751576" y="1837944"/>
            <a:ext cx="242211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Shape 20"/>
          <p:cNvSpPr/>
          <p:nvPr/>
        </p:nvSpPr>
        <p:spPr>
          <a:xfrm rot="593635">
            <a:off x="5987491" y="1783080"/>
            <a:ext cx="31930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Shape 21"/>
          <p:cNvSpPr/>
          <p:nvPr/>
        </p:nvSpPr>
        <p:spPr>
          <a:xfrm rot="785514">
            <a:off x="6302045" y="1837944"/>
            <a:ext cx="484421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 rot="1362865">
            <a:off x="6773875" y="1947672"/>
            <a:ext cx="42625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hape 23"/>
          <p:cNvSpPr/>
          <p:nvPr/>
        </p:nvSpPr>
        <p:spPr>
          <a:xfrm rot="1750057">
            <a:off x="7167067" y="2112264"/>
            <a:ext cx="45029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 rot="2396183">
            <a:off x="7560259" y="2331720"/>
            <a:ext cx="512798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Shape 25"/>
          <p:cNvSpPr/>
          <p:nvPr/>
        </p:nvSpPr>
        <p:spPr>
          <a:xfrm rot="2915163">
            <a:off x="7953451" y="2660904"/>
            <a:ext cx="475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Shape 26"/>
          <p:cNvSpPr/>
          <p:nvPr/>
        </p:nvSpPr>
        <p:spPr>
          <a:xfrm rot="-1153840">
            <a:off x="1033272" y="3072384"/>
            <a:ext cx="583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 rot="-879693">
            <a:off x="1583741" y="2880360"/>
            <a:ext cx="650282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 rot="-593635">
            <a:off x="2212848" y="2715768"/>
            <a:ext cx="638605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 rot="-998810">
            <a:off x="2841955" y="2606040"/>
            <a:ext cx="574549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 rot="-447166">
            <a:off x="3392424" y="2441448"/>
            <a:ext cx="634467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 rot="-998810">
            <a:off x="4021531" y="2359152"/>
            <a:ext cx="574549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 rot="-935569">
            <a:off x="4572000" y="2194560"/>
            <a:ext cx="408216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 rot="-709289">
            <a:off x="4965192" y="2084832"/>
            <a:ext cx="401712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 rot="-935569">
            <a:off x="5358384" y="2002536"/>
            <a:ext cx="408216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 rot="-785514">
            <a:off x="5751576" y="1892808"/>
            <a:ext cx="242211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 rot="593635">
            <a:off x="5987491" y="1837944"/>
            <a:ext cx="319302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 rot="972541">
            <a:off x="6302045" y="1892808"/>
            <a:ext cx="491362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Shape 38"/>
          <p:cNvSpPr/>
          <p:nvPr/>
        </p:nvSpPr>
        <p:spPr>
          <a:xfrm rot="1362865">
            <a:off x="6773875" y="2029968"/>
            <a:ext cx="426252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Shape 39"/>
          <p:cNvSpPr/>
          <p:nvPr/>
        </p:nvSpPr>
        <p:spPr>
          <a:xfrm rot="1750057">
            <a:off x="7167067" y="2194560"/>
            <a:ext cx="45029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Shape 40"/>
          <p:cNvSpPr/>
          <p:nvPr/>
        </p:nvSpPr>
        <p:spPr>
          <a:xfrm rot="2396183">
            <a:off x="7560259" y="2414016"/>
            <a:ext cx="512798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Shape 41"/>
          <p:cNvSpPr/>
          <p:nvPr/>
        </p:nvSpPr>
        <p:spPr>
          <a:xfrm rot="2778117">
            <a:off x="7953451" y="2743200"/>
            <a:ext cx="455309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1645920" y="2194560"/>
            <a:ext cx="2286000" cy="548640"/>
          </a:xfrm>
          <a:prstGeom prst="rect">
            <a:avLst/>
          </a:prstGeom>
          <a:solidFill>
            <a:srgbClr val="1F3A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691640" y="2212848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baseline under-predicts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cold snap surge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03520" y="1828800"/>
            <a:ext cx="2468880" cy="548640"/>
          </a:xfrm>
          <a:prstGeom prst="rect">
            <a:avLst/>
          </a:prstGeom>
          <a:solidFill>
            <a:srgbClr val="1F3A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349240" y="184708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captures demand surge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Lag_Load_24h + HDD_Flag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943600" y="4297680"/>
            <a:ext cx="914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9" name="Text 47"/>
          <p:cNvSpPr/>
          <p:nvPr/>
        </p:nvSpPr>
        <p:spPr>
          <a:xfrm>
            <a:off x="6903720" y="4261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Load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943600" y="4480560"/>
            <a:ext cx="914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6903720" y="44439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Forecast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5800" y="42976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Cold period (high heating load)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0" y="42976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(Hourly) →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Energy Demand Forecasting  |  DBAS 3090 – Advanced Database Applications  |  Dylan Bray  |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Performance: RMSE &amp; Scatter Index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defined as SI% reduction vs. ARIMA baseline during peak demand events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011680" cy="1554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17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RMSE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45 MW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3042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for XGBoost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2022–2023 data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325880"/>
            <a:ext cx="2011680" cy="1554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32588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1417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Index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17556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42032" y="23042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/ stable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periods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1325880"/>
            <a:ext cx="2011680" cy="1554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32588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718304" y="1417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SI% Shoulder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8304" y="17556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18304" y="23042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Apr–May, Sep–Oct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(ambiguous weather)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03136" y="1325880"/>
            <a:ext cx="2011680" cy="1554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325880"/>
            <a:ext cx="20116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6894576" y="1417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SI% Trigger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94576" y="17556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94576" y="23042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Re-tuning alert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017520"/>
            <a:ext cx="5029200" cy="1737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1480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342900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ARIMA Error: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during cold snaps and heat events — RMSE can spike above 150 MW when HDD/CDD patterns are extreme.
</a:t>
            </a:r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Error: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and HDD/CDD flags allow the model to anticipate demand surges 24 hours ahead. Error remains low even at temperature extremes.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0" y="3017520"/>
            <a:ext cx="3383280" cy="1737360"/>
          </a:xfrm>
          <a:prstGeom prst="rect">
            <a:avLst/>
          </a:prstGeom>
          <a:solidFill>
            <a:srgbClr val="1F3A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23560" y="30906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23560" y="342900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Index (SI%)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÷ Mean Load × 100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 Technologies-style health gauge: SI &gt; 10% signals model drift and triggers automated re-tuning via SQL Agent job.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Energy Demand Forecasting  |  DBAS 3090 – Advanced Database Applications  |  Dylan Bray  | 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Impact: 24–48 Hour Forecast Windows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grid management to proactive demand scheduling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02336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402336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4356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Response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20574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advance notice of demand spikes allows NSP to activate reserve capacity, negotiate inter-tie imports from NB/PEI, and avoid emergency load shedding.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325880"/>
            <a:ext cx="402336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325880"/>
            <a:ext cx="402336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2392" y="14356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Technologies Alignment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46320" y="20574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pipeline architecture mirrors smart metering anomaly detection: train on historical patterns, detect deviations in real-time, flag for investigation. Transferable skills for meter-level work.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74320" y="3154680"/>
            <a:ext cx="402336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3154680"/>
            <a:ext cx="402336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0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7552" y="32644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&amp; Hydro Scheduling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11480" y="38862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NSP's generation mix includes thermal, hydro, and wind. Accurate next-day load forecasts allow optimized dispatch scheduling — reducing fuel costs and water spill waste.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09160" y="3154680"/>
            <a:ext cx="402336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09160" y="3154680"/>
            <a:ext cx="4023360" cy="4572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91840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22392" y="32644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Load Optimization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46320" y="38862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industrial customers with time-of-use billing can schedule high-load processes to off-peak windows when load forecasts are published in near real-time.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7" name="Text 21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Energy Demand Forecasting  |  DBAS 3090 – Advanced Database Applications  |  Dylan Bray  | 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10-Week Project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88920" cy="914400"/>
          </a:xfrm>
          <a:prstGeom prst="rect">
            <a:avLst/>
          </a:prstGeom>
          <a:solidFill>
            <a:srgbClr val="1F3A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331720"/>
            <a:ext cx="2788920" cy="502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331720"/>
            <a:ext cx="64008" cy="50292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2386584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 &amp; Proposal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898648"/>
            <a:ext cx="2788920" cy="502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898648"/>
            <a:ext cx="64008" cy="50292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953512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(ERD, DFD)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465576"/>
            <a:ext cx="2788920" cy="502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465576"/>
            <a:ext cx="64008" cy="50292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352044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DB Schema Implementation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4032504"/>
            <a:ext cx="2788920" cy="502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4032504"/>
            <a:ext cx="64008" cy="50292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4087368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 + EC data manual import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72384" y="16002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18688" y="1325880"/>
            <a:ext cx="2788920" cy="91440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10128" y="1371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4–7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18688" y="2331720"/>
            <a:ext cx="2788920" cy="502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2331720"/>
            <a:ext cx="64008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386584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 Package Development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18688" y="2898648"/>
            <a:ext cx="2788920" cy="502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2898648"/>
            <a:ext cx="64008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2953512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weather API + NSP ingestion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18688" y="3465576"/>
            <a:ext cx="2788920" cy="502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18688" y="3465576"/>
            <a:ext cx="64008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352044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training in 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18688" y="4032504"/>
            <a:ext cx="2788920" cy="502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18688" y="4032504"/>
            <a:ext cx="64008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4087368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/ SI% validation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16752" y="16002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163056" y="1325880"/>
            <a:ext cx="2788920" cy="9144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54496" y="1371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8–10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63056" y="2331720"/>
            <a:ext cx="2788920" cy="502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63056" y="2331720"/>
            <a:ext cx="6400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327648" y="2386584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 automation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63056" y="2898648"/>
            <a:ext cx="2788920" cy="502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63056" y="2898648"/>
            <a:ext cx="6400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6327648" y="2953512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build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63056" y="3465576"/>
            <a:ext cx="2788920" cy="502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63056" y="3465576"/>
            <a:ext cx="6400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6327648" y="352044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documentation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63056" y="4032504"/>
            <a:ext cx="2788920" cy="502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63056" y="4032504"/>
            <a:ext cx="6400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6327648" y="4087368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Energy Demand Forecasting  |  DBAS 3090 – Advanced Database Applications  |  Dylan Bray  | 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&amp; Mitigation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3200400" cy="347472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34416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Description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520440" y="1325880"/>
            <a:ext cx="822960" cy="347472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344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822960" cy="347472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344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57800" y="1325880"/>
            <a:ext cx="3931920" cy="347472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13441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37360"/>
            <a:ext cx="8595360" cy="7132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737360"/>
            <a:ext cx="54864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1801368"/>
            <a:ext cx="3063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 OASIS Unavailability (Emera Cyber Incident)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1920240"/>
            <a:ext cx="749808" cy="32004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38728" y="1938528"/>
            <a:ext cx="7132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07408" y="1920240"/>
            <a:ext cx="749808" cy="32004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25696" y="1938528"/>
            <a:ext cx="7132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0" y="180136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Wetmore.ca confirmed working as alternate NSP data source. 2022–2024 OASIS CSVs still accessible for historical training data.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8595360" cy="7132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514600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578608"/>
            <a:ext cx="3063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Season Model Degradation (SI &gt; 10%)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20440" y="2697480"/>
            <a:ext cx="749808" cy="32004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38728" y="2715768"/>
            <a:ext cx="7132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07408" y="2697480"/>
            <a:ext cx="749808" cy="3200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25696" y="2715768"/>
            <a:ext cx="7132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257860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and documented. Weekly SI% monitoring via Power BI gauge triggers re-training. Consider separate shoulder season model with 7-day rolling temperature average feature.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291840"/>
            <a:ext cx="8595360" cy="7132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291840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3355848"/>
            <a:ext cx="3063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Model Accuracy vs. ARIMA Baseline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20440" y="3474720"/>
            <a:ext cx="749808" cy="3200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38728" y="3493008"/>
            <a:ext cx="7132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07408" y="3474720"/>
            <a:ext cx="749808" cy="32004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425696" y="3493008"/>
            <a:ext cx="7132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0" y="335584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holdout storm events separately. Tune eta and add Lag_Load_168h. If XGBoost underperforms, add Random Forest to ensemble for robustness.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069080"/>
            <a:ext cx="8595360" cy="7132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7" name="Shape 35"/>
          <p:cNvSpPr/>
          <p:nvPr/>
        </p:nvSpPr>
        <p:spPr>
          <a:xfrm>
            <a:off x="274320" y="4069080"/>
            <a:ext cx="54864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384048" y="4133088"/>
            <a:ext cx="3063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 Package Connectivity Failures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520440" y="4251960"/>
            <a:ext cx="749808" cy="3200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538728" y="4270248"/>
            <a:ext cx="7132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407408" y="4251960"/>
            <a:ext cx="749808" cy="32004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425696" y="4270248"/>
            <a:ext cx="7132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03520" y="413308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OnError event handler logging to SQL Logs table. SQL Agent job sends email notification on failure. Local CSV cache as fallback for EC weather.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Energy Demand Forecasting  |  DBAS 3090 – Advanced Database Applications  |  Dylan Bray  | 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Governance &amp; Organization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4114800" cy="31089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411480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43560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Sponsor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24128" y="167335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Campanis (Professor)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1031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formal authorization for project resources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269748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scope, timeline, and deliverables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329184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sign-off on submitted project charter and deliverables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1325880"/>
            <a:ext cx="4114800" cy="31089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325880"/>
            <a:ext cx="411480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6304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04688" y="143560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504688" y="167335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Dylan Bray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37760" y="21031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data acquisition, ETL pipeline, R model, Power BI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937760" y="269748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management and milestone delivery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937760" y="329184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on technical progress and risk mitigation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74320" y="4553712"/>
            <a:ext cx="8595360" cy="347472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1" name="Text 17"/>
          <p:cNvSpPr/>
          <p:nvPr/>
        </p:nvSpPr>
        <p:spPr>
          <a:xfrm>
            <a:off x="411480" y="45720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Control: Any changes to scope, data sources, or model architecture require written approval from Project Sponsor and updated Project Charter revision.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3" name="Text 19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Energy Demand Forecasting  |  DBAS 3090 – Advanced Database Applications  |  Dylan Bray  | 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Authorization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51560"/>
            <a:ext cx="475488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544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5361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SQL Server database (5-table schema)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299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0116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 ETL Package — NSP + EC weather ingestion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0545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248716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XGBoost model in R with RMSE/SI% validation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8094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240" y="296265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 (3 visuals + SI gauge)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456432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77240" y="343814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 automated daily pipeline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93192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77240" y="391363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technical documentation (ERD, Data Dictionary)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5212080" y="1051560"/>
            <a:ext cx="3657600" cy="3200400"/>
          </a:xfrm>
          <a:prstGeom prst="rect">
            <a:avLst/>
          </a:prstGeom>
          <a:solidFill>
            <a:srgbClr val="1F3A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5212080" y="1051560"/>
            <a:ext cx="3657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14"/>
          <p:cNvSpPr/>
          <p:nvPr/>
        </p:nvSpPr>
        <p:spPr>
          <a:xfrm>
            <a:off x="5349240" y="11155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5349240" y="1536192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Charter formally defines the scope and objectives of the Halifax Energy Demand Forecasting project for DBAS 3090.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architecture (SSIS → SQL Server → XGBoost → Power BI) serves dual purpose as both academic deliverable and real-world portfolio asset aligned with smart energy metering industry roles.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Required: Formal authorization from Project Sponsor to commence Phase 2 Integration &amp; Modelling.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5" name="Text 17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 Energy Demand Forecasting  |  DBAS 3090 – Advanced Database Applications  |  Dylan Bray  |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Halifax Energy Demand Forecasting</dc:title>
  <dc:subject>PptxGenJS Presentation</dc:subject>
  <dc:creator>Dylan Bray</dc:creator>
  <cp:lastModifiedBy>Dylan Bray</cp:lastModifiedBy>
  <cp:revision>1</cp:revision>
  <dcterms:created xsi:type="dcterms:W3CDTF">2026-03-06T02:42:17Z</dcterms:created>
  <dcterms:modified xsi:type="dcterms:W3CDTF">2026-03-06T02:42:17Z</dcterms:modified>
</cp:coreProperties>
</file>